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Study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0A2E36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9FA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9FA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9FA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9FAFB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Undergrad Year 1</c:v>
                </c:pt>
                <c:pt idx="1">
                  <c:v>Undergrad Year 2</c:v>
                </c:pt>
                <c:pt idx="2">
                  <c:v>Undergrad Year 3+</c:v>
                </c:pt>
                <c:pt idx="3">
                  <c:v>Graduate / Postgrad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the three angles the survey explored: what motivates students, what engages them, and what an educational platform can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Sixteen responses across undergraduate and graduate students. Analysis combined quantitative agreement percentages with thematic coding of open-ended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agreement of any Likert item in the entire survey. Not one respondent disagreed. Feedback is the closest thing this data set surfaces to a universal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 here is not about content quality. It is about whether students can see, in the moment, why the material will matter to their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being reported here is not one of intention, but one of execution. Students set plans and fall off them, particularly mid-session and when material feels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685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 Solutions | Group 43 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Motivation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Survey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design recommendations for the Educational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5852160"/>
            <a:ext cx="22860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Yashal Manaiem Javaid  |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learn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actually drives (and drains) student motivation in class and while studying.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students want to attend class and study consistently?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6974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teaching formats and interactions actually hold attention?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4290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design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9640" y="402336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would help students stay on track online?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37744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377440" y="2606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questions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Likert-scale items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377440" y="4892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prompts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deployed via Google Forms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Likert-scale, multiple-choice, and open-ended items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anonymised at collection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 Excel: descriptive statistics, agreement percentages, thematic coding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% = (Agree + Strongly Agree) / total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responded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students across four levels of study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103120"/>
            <a:ext cx="10972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Undergraduate Year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respondents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32720" y="21945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31.3%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040880" y="3154680"/>
            <a:ext cx="109728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Undergraduate Year 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respondents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0" y="3246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040880" y="4206240"/>
            <a:ext cx="10972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Undergraduate Year 3+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respondents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32720" y="42976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040880" y="5257800"/>
            <a:ext cx="109728" cy="82296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5257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Graduate / Postgraduate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315200" y="5669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respondents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32720" y="5349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is the strongest motivator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agreed or strongly agreed that regular feedback would increase their motivation.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2651760"/>
            <a:ext cx="4937760" cy="3657600"/>
          </a:xfrm>
          <a:prstGeom prst="roundRect">
            <a:avLst>
              <a:gd name="adj" fmla="val 375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words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329184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“Teachers providing constructive feedback and clear goals.”
</a:t>
            </a:r>
            <a:pPr indent="0" marL="0">
              <a:buNone/>
            </a:pPr>
            <a:r>
              <a:rPr lang="en-US" sz="1500" i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feedback and actually helping to understand the topics rather than just helping to pass the exam.”
</a:t>
            </a:r>
            <a:pPr indent="0" marL="0">
              <a:buNone/>
            </a:pPr>
            <a:r>
              <a:rPr lang="en-US" sz="1500" i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“Feedback and hands on practice.”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drives, and its absence drains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87.5%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motivation when a course feels irrelevant to their future goals.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2468880"/>
            <a:ext cx="4937760" cy="3840480"/>
          </a:xfrm>
          <a:prstGeom prst="roundRect">
            <a:avLst>
              <a:gd name="adj" fmla="val 3571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said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310896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“Lack of clear relevance, feeling like the material won't matter in the real world.”
</a:t>
            </a:r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has no benefit or is irrelevant to our course.”
</a:t>
            </a:r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respondent proposed a fix:
</a:t>
            </a:r>
            <a:pPr indent="0" marL="0">
              <a:buNone/>
            </a:pPr>
            <a:r>
              <a:rPr lang="en-US" sz="1400" b="1" i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real-world impact tracker showing how each lesson directly applies to actual careers or everyday problems.”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Intention doesn't translate to action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394960" cy="3840480"/>
          </a:xfrm>
          <a:prstGeom prst="roundRect">
            <a:avLst>
              <a:gd name="adj" fmla="val 3571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through on their own study plans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10 respondents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468880"/>
            <a:ext cx="5394960" cy="3840480"/>
          </a:xfrm>
          <a:prstGeom prst="roundRect">
            <a:avLst>
              <a:gd name="adj" fmla="val 3571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6517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6537960" y="4572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focus mid-way through a study session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5394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 the start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patterns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920240" y="14630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over theory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open-ended answer asked for more hands-on, practical, or discussion-based teaching, and less lecture-heavy theory.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30632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emotional layer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36118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Kindness, encouragement, and mental support named as motivation supports. Dismissive feedback named as a motivation killer.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822960" cy="8229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46634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leads the wishlist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52120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Interactive/hands-on activities and smaller discussion groups tied as the top requested engagement factors (50% each).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Educational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in the core loop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meaningful feedback within the same session, not the same semester.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made visible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answer to “why does this matter?” before every module, not buried in the syllabus.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54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scaffolding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Micro-goals, streaks, and small study groups to close the plan-vs-action gap.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06324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154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Interactive-first content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interactive segments, discussion prompts, applied projects over long passive lectures.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 the emotional layer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over corrective. Tone matters as much as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E5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(n=16), skewed undergraduate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drop-off in the second half (n=10)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data, subject to social desirability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Cross-sectional, no view of change over a semester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23774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sample across institutions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longitudinal component to track motivation over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proposed platform features with short user-research interviews before development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wider Group 43 module for cross-analysis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0"/>
            <a:ext cx="13716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8872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5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discussion, and feedback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Yashal Manaiem Javaid  |  SafeX Solutions, Group 43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Motivation &amp; Engagement Survey</dc:title>
  <dc:subject>PptxGenJS Presentation</dc:subject>
  <dc:creator>Yashal Manaiem Javaid</dc:creator>
  <cp:lastModifiedBy>Yashal Manaiem Javaid</cp:lastModifiedBy>
  <cp:revision>1</cp:revision>
  <dcterms:created xsi:type="dcterms:W3CDTF">2026-07-27T23:25:47Z</dcterms:created>
  <dcterms:modified xsi:type="dcterms:W3CDTF">2026-07-27T23:25:47Z</dcterms:modified>
</cp:coreProperties>
</file>